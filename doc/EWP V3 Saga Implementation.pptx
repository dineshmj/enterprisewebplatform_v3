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32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6" autoAdjust="0"/>
    <p:restoredTop sz="94660"/>
  </p:normalViewPr>
  <p:slideViewPr>
    <p:cSldViewPr snapToGrid="0">
      <p:cViewPr>
        <p:scale>
          <a:sx n="150" d="100"/>
          <a:sy n="150" d="100"/>
        </p:scale>
        <p:origin x="484" y="-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3F163-25D3-524C-36C6-21DAC5833C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C44ECF-1767-0A87-76A0-AA424C8052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C0384-3E41-64E0-9953-60A1D0C53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C051C-301A-4C05-BB7C-609F0D3C8F39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D458E-B9A8-B885-DDE2-D427DE409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2FA5E-28EA-9017-A0FF-F96EB453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5D24-38F0-449E-81DE-AE3BE376B9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754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39306-127F-5B57-5241-AD1ADE7C6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144F9-8EDC-0332-29B5-DF5FD47E5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AD335-9D02-B6AF-BB13-D78773215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C051C-301A-4C05-BB7C-609F0D3C8F39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6CCE8-2EC7-6101-521C-81B4F5CAD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FCE43-916E-A5AD-996D-52AFD6D35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5D24-38F0-449E-81DE-AE3BE376B9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409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12992-54B7-FF80-9C9E-7B3FB93CA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66CFB-9F83-3FEB-7B80-FDE4FAC11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21930-7863-F386-EE61-9161E40BC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C051C-301A-4C05-BB7C-609F0D3C8F39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E525B-0912-3753-DAFE-9B8FFD24D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B8003-E451-AD57-68DF-44980B740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5D24-38F0-449E-81DE-AE3BE376B9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890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FA4D8-2643-02D5-D272-F6F21D80C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92082-C819-7FB5-3055-C2F7C1263B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7726DF-7F6E-1DE5-7300-519FA88DBD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CC108-A823-E6D7-6206-B6817D81B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C051C-301A-4C05-BB7C-609F0D3C8F39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E9786-B8A5-B45C-204A-0D11503D7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27D7FF-A4A4-B8C6-6366-7C3B77E16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5D24-38F0-449E-81DE-AE3BE376B9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640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AFE22-E021-D9CD-3C6D-3BAAAD510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E0FA8-DD06-8616-F6CC-970B01DC3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98E9FD-999F-85CD-6DFD-949BDD6B2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7CC3E0-FEB9-44A4-4319-257DEF1AD4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020798-227D-8D72-7573-A8CC3BAF49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5965DB-CF86-27EE-28AA-317079C87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C051C-301A-4C05-BB7C-609F0D3C8F39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579B07-C341-BA08-6C98-4E1E150B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53C601-589C-2E54-72D3-0EB406267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5D24-38F0-449E-81DE-AE3BE376B9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304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DE40B-C974-9105-7F5F-2ADA0D324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6E1FF2-42FE-FDA5-F4C0-5CC981202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C051C-301A-4C05-BB7C-609F0D3C8F39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F500B7-BD8E-1880-1DA2-D39692B8B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540BBD-1FB5-A212-9240-6BF4D08FA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5D24-38F0-449E-81DE-AE3BE376B9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228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solidFill>
          <a:srgbClr val="00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DE40B-C974-9105-7F5F-2ADA0D324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682" y="2698750"/>
            <a:ext cx="11726635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6E1FF2-42FE-FDA5-F4C0-5CC981202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C051C-301A-4C05-BB7C-609F0D3C8F39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F500B7-BD8E-1880-1DA2-D39692B8B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540BBD-1FB5-A212-9240-6BF4D08FA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5D24-38F0-449E-81DE-AE3BE376B9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138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43E1DB-4150-B709-7990-CFF069032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C051C-301A-4C05-BB7C-609F0D3C8F39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2229FE-E63F-18EB-0889-3F05DBC72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3CBF4-E701-A812-3028-BF5CAC158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5D24-38F0-449E-81DE-AE3BE376B9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794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0801B-47B2-22C2-9EA9-983BB7D19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78CD2-802B-6D27-3B5C-A7E9D22B2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2E418A-B240-D610-8D1C-2A3A1E8FC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B087D6-153E-6E36-62B0-EF38CA184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C051C-301A-4C05-BB7C-609F0D3C8F39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0E831-387F-EE2D-885C-280FC0E92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3776D-6B20-0CBE-F127-DE14C5723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5D24-38F0-449E-81DE-AE3BE376B9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950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5B226-990E-5EA5-58F4-3E183A471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0416BB-F28D-EDEB-624C-1619E11D1A3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B8F1C-80FF-F76B-B76A-240E09644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588EA-BFD7-E5DE-CED1-22D00A812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C051C-301A-4C05-BB7C-609F0D3C8F39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CA7B3-CFBB-E0F5-6F2F-2C0B5D05E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479C50-C5B4-8663-2602-75942D3B5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5D24-38F0-449E-81DE-AE3BE376B9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6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4487C-358C-1934-B5A3-907F838E8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4C9902-1821-F8D1-F65D-E2815292C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64523-F3E7-5B2F-8CE7-FAAD9DCDA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C051C-301A-4C05-BB7C-609F0D3C8F39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EC6E3-7C10-2D2B-2976-C865C1395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E3F82-7128-F69A-D245-3BC9B204E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5D24-38F0-449E-81DE-AE3BE376B9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4870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46C570-C78C-02E7-8FC6-0850DAA0E4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ACA392-49E4-144B-E124-31EF763EBD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84649-A0F7-57E5-AB30-1693429D3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C051C-301A-4C05-BB7C-609F0D3C8F39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A1675-7AED-1CE1-B103-81530A69E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34448-EA9E-5A77-7AE9-DD72321B2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25D24-38F0-449E-81DE-AE3BE376B9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88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EB8BD2-E3D9-B354-BDA0-4E017E973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DA8070-CC3E-0FAA-CFD5-9EB3ED740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EBCC9-EE29-9B68-25BA-A1D26FF795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EC051C-301A-4C05-BB7C-609F0D3C8F39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14BE3-4FB3-70AD-CFD1-0AFA598B1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983A4-0D8A-2C0E-3B03-27890073B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025D24-38F0-449E-81DE-AE3BE376B9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192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C7C18F-E745-156E-262B-A3629FAD5BA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lIns="320040" anchor="ctr"/>
          <a:lstStyle/>
          <a:p>
            <a:pPr algn="l"/>
            <a:r>
              <a:rPr lang="en-IN" sz="3200" b="1" i="0" dirty="0">
                <a:solidFill>
                  <a:srgbClr val="FFFFFF"/>
                </a:solidFill>
                <a:latin typeface="Aptos Display"/>
              </a:rPr>
              <a:t>Customer Onboarding – Writing to API DB</a:t>
            </a:r>
          </a:p>
        </p:txBody>
      </p:sp>
    </p:spTree>
    <p:extLst>
      <p:ext uri="{BB962C8B-B14F-4D97-AF65-F5344CB8AC3E}">
        <p14:creationId xmlns:p14="http://schemas.microsoft.com/office/powerpoint/2010/main" val="367470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53ACFB8-E9A2-68CA-DB0A-8E2CBE34DF2A}"/>
              </a:ext>
            </a:extLst>
          </p:cNvPr>
          <p:cNvSpPr/>
          <p:nvPr/>
        </p:nvSpPr>
        <p:spPr>
          <a:xfrm>
            <a:off x="192243" y="793750"/>
            <a:ext cx="8543240" cy="5448300"/>
          </a:xfrm>
          <a:prstGeom prst="roundRect">
            <a:avLst>
              <a:gd name="adj" fmla="val 3483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IN" sz="11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Customer Onboarding</a:t>
            </a:r>
            <a:r>
              <a:rPr lang="en-IN" sz="11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Microservice API</a:t>
            </a:r>
          </a:p>
          <a:p>
            <a:pPr>
              <a:lnSpc>
                <a:spcPct val="150000"/>
              </a:lnSpc>
            </a:pPr>
            <a:r>
              <a:rPr lang="en-IN" sz="1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CustomersController</a:t>
            </a:r>
            <a:r>
              <a:rPr lang="en-IN" sz="8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.CreateCustomer()</a:t>
            </a: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IN" sz="800" b="1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201 - Created</a:t>
            </a:r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65FDC8A-53CB-89A7-1F36-ACB2CBCB1B97}"/>
              </a:ext>
            </a:extLst>
          </p:cNvPr>
          <p:cNvSpPr/>
          <p:nvPr/>
        </p:nvSpPr>
        <p:spPr>
          <a:xfrm>
            <a:off x="373326" y="1529786"/>
            <a:ext cx="8163191" cy="4316447"/>
          </a:xfrm>
          <a:prstGeom prst="roundRect">
            <a:avLst>
              <a:gd name="adj" fmla="val 2616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IN" sz="10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CQRS</a:t>
            </a:r>
          </a:p>
          <a:p>
            <a:pPr>
              <a:lnSpc>
                <a:spcPct val="150000"/>
              </a:lnSpc>
            </a:pPr>
            <a:r>
              <a:rPr lang="en-IN" sz="1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CreateCustomerCommandHandler</a:t>
            </a:r>
            <a:r>
              <a:rPr lang="en-IN" sz="8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.HandleAsync ()</a:t>
            </a:r>
          </a:p>
          <a:p>
            <a:pPr indent="-277812">
              <a:lnSpc>
                <a:spcPct val="150000"/>
              </a:lnSpc>
            </a:pPr>
            <a:endParaRPr lang="en-IN" sz="4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Gets the next sequence number for the Customer Number</a:t>
            </a: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(this is different from ID of the customer)</a:t>
            </a: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Repository: track the new customer (and its address) in EF Core</a:t>
            </a: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  <a:sym typeface="Wingdings" panose="05000000000000000000" pitchFamily="2" charset="2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EF Core (Unit Of Work Implementation):</a:t>
            </a:r>
          </a:p>
          <a:p>
            <a:pPr marL="352425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Collect the domain events</a:t>
            </a:r>
          </a:p>
          <a:p>
            <a:pPr marL="352425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800" b="1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Begin a transaction</a:t>
            </a:r>
          </a:p>
          <a:p>
            <a:pPr marL="352425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Save customer, address  </a:t>
            </a: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the IDs of both are generated by the database</a:t>
            </a: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  <a:sym typeface="Wingdings" panose="05000000000000000000" pitchFamily="2" charset="2"/>
            </a:endParaRPr>
          </a:p>
          <a:p>
            <a:pPr marL="352425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Iterate through domain events</a:t>
            </a:r>
          </a:p>
          <a:p>
            <a:pPr marL="538163" lvl="2" indent="-79375">
              <a:lnSpc>
                <a:spcPct val="150000"/>
              </a:lnSpc>
              <a:buFont typeface="Cascadia Code" panose="020B0609020000020004" pitchFamily="49" charset="0"/>
              <a:buChar char="−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Map domain event  Integration event  to a new “Outbox” row with Workflow ID, Correlation ID and Causation ID, Initiator</a:t>
            </a:r>
          </a:p>
          <a:p>
            <a:pPr marL="538163" lvl="2" indent="-79375">
              <a:lnSpc>
                <a:spcPct val="150000"/>
              </a:lnSpc>
              <a:buFont typeface="Cascadia Code" panose="020B0609020000020004" pitchFamily="49" charset="0"/>
              <a:buChar char="−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Order of “Outbox” rows is important – written one row at a time </a:t>
            </a:r>
          </a:p>
          <a:p>
            <a:pPr marL="352425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800" b="1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Commit the transaction</a:t>
            </a: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 – customer, address, and outbox records are together committed</a:t>
            </a:r>
          </a:p>
          <a:p>
            <a:pPr marL="538163" lvl="2" indent="-79375">
              <a:lnSpc>
                <a:spcPct val="150000"/>
              </a:lnSpc>
              <a:buFont typeface="Cascadia Code" panose="020B0609020000020004" pitchFamily="49" charset="0"/>
              <a:buChar char="−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Hence "Transactional Outbox": no "dual write“</a:t>
            </a:r>
          </a:p>
          <a:p>
            <a:pPr marL="352425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Clear domain events list</a:t>
            </a: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538163" lvl="2" indent="-79375">
              <a:lnSpc>
                <a:spcPct val="150000"/>
              </a:lnSpc>
              <a:buFont typeface="Cascadia Code" panose="020B0609020000020004" pitchFamily="49" charset="0"/>
              <a:buChar char="−"/>
            </a:pP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34BD28-047B-7E6E-C22F-8B49D7F99A81}"/>
              </a:ext>
            </a:extLst>
          </p:cNvPr>
          <p:cNvSpPr txBox="1"/>
          <p:nvPr/>
        </p:nvSpPr>
        <p:spPr>
          <a:xfrm>
            <a:off x="5704841" y="916614"/>
            <a:ext cx="3030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i="1" dirty="0">
                <a:latin typeface="Cascadia Code" panose="020B0609020000020004" pitchFamily="49" charset="0"/>
                <a:cs typeface="Cascadia Code" panose="020B0609020000020004" pitchFamily="49" charset="0"/>
              </a:rPr>
              <a:t>HTTP POST, Auth policy: </a:t>
            </a:r>
            <a:r>
              <a:rPr lang="en-IN" sz="900" b="1" i="1" dirty="0">
                <a:solidFill>
                  <a:srgbClr val="C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"CustomerWrite"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i="1" dirty="0">
                <a:latin typeface="Cascadia Code" panose="020B0609020000020004" pitchFamily="49" charset="0"/>
                <a:cs typeface="Cascadia Code" panose="020B0609020000020004" pitchFamily="49" charset="0"/>
              </a:rPr>
              <a:t>Uses DDD, CQRS Command Handler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D0884D3-B47D-51D1-6B0A-02D10BBB93EA}"/>
              </a:ext>
            </a:extLst>
          </p:cNvPr>
          <p:cNvSpPr/>
          <p:nvPr/>
        </p:nvSpPr>
        <p:spPr>
          <a:xfrm>
            <a:off x="536995" y="2460271"/>
            <a:ext cx="7769587" cy="1286055"/>
          </a:xfrm>
          <a:prstGeom prst="roundRect">
            <a:avLst>
              <a:gd name="adj" fmla="val 9293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IN" sz="10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Domain Driven Design</a:t>
            </a:r>
          </a:p>
          <a:p>
            <a:pPr>
              <a:lnSpc>
                <a:spcPct val="150000"/>
              </a:lnSpc>
            </a:pPr>
            <a:r>
              <a:rPr lang="en-IN" sz="1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Customer</a:t>
            </a:r>
            <a:r>
              <a:rPr lang="en-IN" sz="8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.Create ()</a:t>
            </a:r>
          </a:p>
          <a:p>
            <a:pPr indent="-277812">
              <a:lnSpc>
                <a:spcPct val="150000"/>
              </a:lnSpc>
            </a:pPr>
            <a:endParaRPr lang="en-IN" sz="4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lvl="1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Builds itself from value-objects</a:t>
            </a:r>
          </a:p>
          <a:p>
            <a:pPr marL="352425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PersonName.Create(), EmailAddress.Create(), PhoneNumber.Create (), etc.</a:t>
            </a:r>
          </a:p>
          <a:p>
            <a:pPr marL="88900" lvl="1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Finally, it raises </a:t>
            </a:r>
            <a:r>
              <a:rPr lang="en-US" sz="800" b="1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CustomerCreatedDomainEvent</a:t>
            </a: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 into its domain-event list</a:t>
            </a: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  <a:sym typeface="Wingdings" panose="05000000000000000000" pitchFamily="2" charset="2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C1628E6-9EDF-78DE-A10A-9708E56E5DF2}"/>
              </a:ext>
            </a:extLst>
          </p:cNvPr>
          <p:cNvSpPr/>
          <p:nvPr/>
        </p:nvSpPr>
        <p:spPr>
          <a:xfrm>
            <a:off x="8953127" y="2926139"/>
            <a:ext cx="3012390" cy="3104547"/>
          </a:xfrm>
          <a:prstGeom prst="roundRect">
            <a:avLst>
              <a:gd name="adj" fmla="val 486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IN" sz="900" b="1" u="sng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Architectural Patterns</a:t>
            </a:r>
            <a:r>
              <a:rPr lang="en-IN" sz="9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en-IN" sz="9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Transactional Outbox Pattern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CQRS Pattern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DDD Patterns (Aggregate, VO, etc.)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Deferred Domain-event Dispatch Pattern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Domain event </a:t>
            </a: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 Integration Event Pattern</a:t>
            </a:r>
            <a:endParaRPr lang="en-IN" sz="9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Repository Pattern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Unit of Work Pattern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Correlation Identifier Pattern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Surrogate Key + Business Key Pattern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Policy-based Authorization Pattern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IN" sz="9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29B5B23-BF3B-C7A2-4039-4C74A2578C8F}"/>
              </a:ext>
            </a:extLst>
          </p:cNvPr>
          <p:cNvSpPr/>
          <p:nvPr/>
        </p:nvSpPr>
        <p:spPr>
          <a:xfrm>
            <a:off x="8953127" y="1112157"/>
            <a:ext cx="3012390" cy="1619250"/>
          </a:xfrm>
          <a:prstGeom prst="roundRect">
            <a:avLst>
              <a:gd name="adj" fmla="val 795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IN" sz="900" b="1" u="sng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Architectural Components</a:t>
            </a:r>
            <a:r>
              <a:rPr lang="en-IN" sz="9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en-IN" sz="9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Microservice API Controller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Command Handler (CQRS)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Aggregate (DDD)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Repository (EF Core DbContext)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Unit of Work (EF Core DbContext)</a:t>
            </a:r>
          </a:p>
        </p:txBody>
      </p:sp>
      <p:sp>
        <p:nvSpPr>
          <p:cNvPr id="4" name="Title 24">
            <a:extLst>
              <a:ext uri="{FF2B5EF4-FFF2-40B4-BE49-F238E27FC236}">
                <a16:creationId xmlns:a16="http://schemas.microsoft.com/office/drawing/2014/main" id="{B2B2391D-C9E2-5F70-AE81-0DE920D38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" y="131074"/>
            <a:ext cx="11912600" cy="460968"/>
          </a:xfrm>
          <a:noFill/>
          <a:ln>
            <a:noFill/>
          </a:ln>
        </p:spPr>
        <p:txBody>
          <a:bodyPr lIns="36576" tIns="18288">
            <a:noAutofit/>
          </a:bodyPr>
          <a:lstStyle/>
          <a:p>
            <a:r>
              <a:rPr lang="en-IN" sz="2500" b="1" i="0" dirty="0">
                <a:solidFill>
                  <a:srgbClr val="162B4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Writing Customer, Address, Outbox records to CO DB</a:t>
            </a:r>
          </a:p>
        </p:txBody>
      </p:sp>
    </p:spTree>
    <p:extLst>
      <p:ext uri="{BB962C8B-B14F-4D97-AF65-F5344CB8AC3E}">
        <p14:creationId xmlns:p14="http://schemas.microsoft.com/office/powerpoint/2010/main" val="1405715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53ACFB8-E9A2-68CA-DB0A-8E2CBE34DF2A}"/>
              </a:ext>
            </a:extLst>
          </p:cNvPr>
          <p:cNvSpPr/>
          <p:nvPr/>
        </p:nvSpPr>
        <p:spPr>
          <a:xfrm>
            <a:off x="192243" y="793749"/>
            <a:ext cx="8543240" cy="5802065"/>
          </a:xfrm>
          <a:prstGeom prst="roundRect">
            <a:avLst>
              <a:gd name="adj" fmla="val 3483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IN" sz="11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Customer Onboarding</a:t>
            </a:r>
            <a:r>
              <a:rPr lang="en-IN" sz="11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Microservice API</a:t>
            </a:r>
          </a:p>
          <a:p>
            <a:pPr>
              <a:lnSpc>
                <a:spcPct val="150000"/>
              </a:lnSpc>
            </a:pPr>
            <a:r>
              <a:rPr lang="en-IN" sz="1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OnboardingApplicationsController</a:t>
            </a:r>
            <a:r>
              <a:rPr lang="en-IN" sz="8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.CreateApplication()</a:t>
            </a: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Check the signed-in agent may manage this customer (branch scope + managing agent); take the acting branch from the token (403 if none)</a:t>
            </a: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Prepare a CreateOnboardingApplicationCommand </a:t>
            </a: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 (branch, customer)</a:t>
            </a: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IN" sz="800" b="1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201 - Created</a:t>
            </a:r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65FDC8A-53CB-89A7-1F36-ACB2CBCB1B97}"/>
              </a:ext>
            </a:extLst>
          </p:cNvPr>
          <p:cNvSpPr/>
          <p:nvPr/>
        </p:nvSpPr>
        <p:spPr>
          <a:xfrm>
            <a:off x="373326" y="1812909"/>
            <a:ext cx="8163191" cy="4467439"/>
          </a:xfrm>
          <a:prstGeom prst="roundRect">
            <a:avLst>
              <a:gd name="adj" fmla="val 2616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IN" sz="10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CQRS</a:t>
            </a:r>
          </a:p>
          <a:p>
            <a:pPr>
              <a:lnSpc>
                <a:spcPct val="150000"/>
              </a:lnSpc>
            </a:pPr>
            <a:r>
              <a:rPr lang="en-IN" sz="1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CreateOnboardingApplicationCommandHandler</a:t>
            </a:r>
            <a:r>
              <a:rPr lang="en-IN" sz="8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.HandleAsync ()</a:t>
            </a:r>
            <a:endParaRPr lang="en-IN" sz="4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800" b="1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Idempotency handling</a:t>
            </a: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: If a draft OnboardingApplication is there in repository, just return it.</a:t>
            </a: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customer.StartOnboarding(): domain rule (</a:t>
            </a:r>
            <a:r>
              <a:rPr lang="en-US" sz="800" b="1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aggregate invariant</a:t>
            </a: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), only a PROSPECT may start onboarding, otherwise refused; if allowed, status → ONBOARDING and CustomerStatusChangedDomainEvent is raised.</a:t>
            </a: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Gets the next sequence number for the OnboardingApplication Number</a:t>
            </a: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(this is different from ID of the OnboardingApplication)</a:t>
            </a: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Repository: track the new application; the customer (loaded above) is already tracked.</a:t>
            </a: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  <a:sym typeface="Wingdings" panose="05000000000000000000" pitchFamily="2" charset="2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EF Core (Unit Of Work Implementation):</a:t>
            </a:r>
          </a:p>
          <a:p>
            <a:pPr marL="352425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Collect the domain events (Note: this currently has only the status changed event of Customer aggregate)</a:t>
            </a:r>
          </a:p>
          <a:p>
            <a:pPr marL="352425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800" b="1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Begin a transaction</a:t>
            </a:r>
          </a:p>
          <a:p>
            <a:pPr marL="352425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Save: the application is inserted (its ID generated by the database) and the customer updated</a:t>
            </a: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  <a:sym typeface="Wingdings" panose="05000000000000000000" pitchFamily="2" charset="2"/>
            </a:endParaRPr>
          </a:p>
          <a:p>
            <a:pPr marL="352425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Iterate through domain events</a:t>
            </a:r>
          </a:p>
          <a:p>
            <a:pPr marL="538163" lvl="2" indent="-79375">
              <a:lnSpc>
                <a:spcPct val="150000"/>
              </a:lnSpc>
              <a:buFont typeface="Cascadia Code" panose="020B0609020000020004" pitchFamily="49" charset="0"/>
              <a:buChar char="−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Map domain event  Integration event  to a new “Outbox” row with Workflow ID, Correlation ID and Causation ID, Initiator</a:t>
            </a:r>
          </a:p>
          <a:p>
            <a:pPr marL="538163" lvl="2" indent="-79375">
              <a:lnSpc>
                <a:spcPct val="150000"/>
              </a:lnSpc>
              <a:buFont typeface="Cascadia Code" panose="020B0609020000020004" pitchFamily="49" charset="0"/>
              <a:buChar char="−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Order of “Outbox” rows is important – written one row at a time</a:t>
            </a:r>
          </a:p>
          <a:p>
            <a:pPr marL="352425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800" b="1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Commit the transaction</a:t>
            </a: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 – OnboardingApplication (created), Customer (updated), and outbox records are together committed</a:t>
            </a:r>
          </a:p>
          <a:p>
            <a:pPr marL="538163" lvl="2" indent="-79375">
              <a:lnSpc>
                <a:spcPct val="150000"/>
              </a:lnSpc>
              <a:buFont typeface="Cascadia Code" panose="020B0609020000020004" pitchFamily="49" charset="0"/>
              <a:buChar char="−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Hence "Transactional Outbox": no "dual write"</a:t>
            </a:r>
          </a:p>
          <a:p>
            <a:pPr marL="352425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Clear domain events list</a:t>
            </a: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34BD28-047B-7E6E-C22F-8B49D7F99A81}"/>
              </a:ext>
            </a:extLst>
          </p:cNvPr>
          <p:cNvSpPr txBox="1"/>
          <p:nvPr/>
        </p:nvSpPr>
        <p:spPr>
          <a:xfrm>
            <a:off x="5584372" y="917669"/>
            <a:ext cx="3151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i="1" dirty="0">
                <a:latin typeface="Cascadia Code" panose="020B0609020000020004" pitchFamily="49" charset="0"/>
                <a:cs typeface="Cascadia Code" panose="020B0609020000020004" pitchFamily="49" charset="0"/>
              </a:rPr>
              <a:t>HTTP POST, Auth policy: </a:t>
            </a:r>
            <a:r>
              <a:rPr lang="en-IN" sz="900" b="1" i="1" dirty="0">
                <a:solidFill>
                  <a:srgbClr val="C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"OnboardingWrite"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i="1" dirty="0">
                <a:latin typeface="Cascadia Code" panose="020B0609020000020004" pitchFamily="49" charset="0"/>
                <a:cs typeface="Cascadia Code" panose="020B0609020000020004" pitchFamily="49" charset="0"/>
              </a:rPr>
              <a:t>Uses DDD, CQRS Command Handler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D0884D3-B47D-51D1-6B0A-02D10BBB93EA}"/>
              </a:ext>
            </a:extLst>
          </p:cNvPr>
          <p:cNvSpPr/>
          <p:nvPr/>
        </p:nvSpPr>
        <p:spPr>
          <a:xfrm>
            <a:off x="536995" y="3148973"/>
            <a:ext cx="7809614" cy="986220"/>
          </a:xfrm>
          <a:prstGeom prst="roundRect">
            <a:avLst>
              <a:gd name="adj" fmla="val 9293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IN" sz="10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Domain Driven Design</a:t>
            </a:r>
          </a:p>
          <a:p>
            <a:pPr>
              <a:lnSpc>
                <a:spcPct val="150000"/>
              </a:lnSpc>
            </a:pPr>
            <a:r>
              <a:rPr lang="en-IN" sz="1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OnboardingApplication</a:t>
            </a:r>
            <a:r>
              <a:rPr lang="en-IN" sz="8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.Create ()</a:t>
            </a:r>
          </a:p>
          <a:p>
            <a:pPr indent="-277812">
              <a:lnSpc>
                <a:spcPct val="150000"/>
              </a:lnSpc>
            </a:pPr>
            <a:endParaRPr lang="en-IN" sz="4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lvl="1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Builds itself from value-objects </a:t>
            </a: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 ApplicationNumber.Issue(), BranchCode.Create(), etc.</a:t>
            </a:r>
          </a:p>
          <a:p>
            <a:pPr marL="88900" lvl="1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No domain-events are raised at this stage; the OnboardingApplication is just a draft.</a:t>
            </a: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  <a:sym typeface="Wingdings" panose="05000000000000000000" pitchFamily="2" charset="2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C1628E6-9EDF-78DE-A10A-9708E56E5DF2}"/>
              </a:ext>
            </a:extLst>
          </p:cNvPr>
          <p:cNvSpPr/>
          <p:nvPr/>
        </p:nvSpPr>
        <p:spPr>
          <a:xfrm>
            <a:off x="8953127" y="2852467"/>
            <a:ext cx="3012390" cy="3487662"/>
          </a:xfrm>
          <a:prstGeom prst="roundRect">
            <a:avLst>
              <a:gd name="adj" fmla="val 486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IN" sz="900" b="1" u="sng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Architectural Patterns</a:t>
            </a:r>
            <a:r>
              <a:rPr lang="en-IN" sz="9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en-IN" sz="9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Transactional Outbox Pattern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ABAC + ReBAC Authorization Pattern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CQRS Pattern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DDD Patterns (Aggregate, VO, etc.)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Deferred Domain-event Dispatch Pattern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Domain event </a:t>
            </a: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 Integration Event Pattern</a:t>
            </a:r>
            <a:endParaRPr lang="en-IN" sz="9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Idempotent Command Pattern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Repository Pattern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Unit of Work Pattern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Correlation Identifier Pattern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Surrogate Key + Business Key Pattern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Policy-based Authorization Pattern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IN" sz="9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29B5B23-BF3B-C7A2-4039-4C74A2578C8F}"/>
              </a:ext>
            </a:extLst>
          </p:cNvPr>
          <p:cNvSpPr/>
          <p:nvPr/>
        </p:nvSpPr>
        <p:spPr>
          <a:xfrm>
            <a:off x="8953127" y="1038485"/>
            <a:ext cx="3012390" cy="1619250"/>
          </a:xfrm>
          <a:prstGeom prst="roundRect">
            <a:avLst>
              <a:gd name="adj" fmla="val 795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IN" sz="900" b="1" u="sng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Architectural Components</a:t>
            </a:r>
            <a:r>
              <a:rPr lang="en-IN" sz="9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en-IN" sz="9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Microservice API Controller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Command Handler (CQRS)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Aggregate (DDD)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Repository (EF Core DbContext)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Unit of Work (EF Core DbContext)</a:t>
            </a:r>
          </a:p>
        </p:txBody>
      </p:sp>
      <p:sp>
        <p:nvSpPr>
          <p:cNvPr id="4" name="Title 24">
            <a:extLst>
              <a:ext uri="{FF2B5EF4-FFF2-40B4-BE49-F238E27FC236}">
                <a16:creationId xmlns:a16="http://schemas.microsoft.com/office/drawing/2014/main" id="{48236EB0-0833-BA84-D8A2-A5C38962B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" y="131074"/>
            <a:ext cx="11912600" cy="460968"/>
          </a:xfrm>
          <a:noFill/>
          <a:ln>
            <a:noFill/>
          </a:ln>
        </p:spPr>
        <p:txBody>
          <a:bodyPr lIns="36576" tIns="18288">
            <a:noAutofit/>
          </a:bodyPr>
          <a:lstStyle/>
          <a:p>
            <a:r>
              <a:rPr lang="en-IN" sz="2500" b="1" i="0" dirty="0">
                <a:solidFill>
                  <a:srgbClr val="162B4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Creating OnboardingApplication , Outbox records to CO DB</a:t>
            </a:r>
          </a:p>
        </p:txBody>
      </p:sp>
    </p:spTree>
    <p:extLst>
      <p:ext uri="{BB962C8B-B14F-4D97-AF65-F5344CB8AC3E}">
        <p14:creationId xmlns:p14="http://schemas.microsoft.com/office/powerpoint/2010/main" val="2530743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D7C26-042E-1CBD-978F-73E7649BF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EA73D49-D765-FA89-D225-56DC1956785B}"/>
              </a:ext>
            </a:extLst>
          </p:cNvPr>
          <p:cNvSpPr/>
          <p:nvPr/>
        </p:nvSpPr>
        <p:spPr>
          <a:xfrm>
            <a:off x="192243" y="895349"/>
            <a:ext cx="8543240" cy="5607051"/>
          </a:xfrm>
          <a:prstGeom prst="roundRect">
            <a:avLst>
              <a:gd name="adj" fmla="val 3483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IN" sz="11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Customer Onboarding</a:t>
            </a:r>
            <a:r>
              <a:rPr lang="en-IN" sz="11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Microservice API</a:t>
            </a:r>
          </a:p>
          <a:p>
            <a:pPr>
              <a:lnSpc>
                <a:spcPct val="150000"/>
              </a:lnSpc>
            </a:pPr>
            <a:r>
              <a:rPr lang="en-IN" sz="1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OnboardingApplicationsController</a:t>
            </a:r>
            <a:r>
              <a:rPr lang="en-IN" sz="8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.SubmitApplication()</a:t>
            </a: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Check the signed-in agent may manage this onboarding application (branch scope + managing agent)</a:t>
            </a: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Prepare a SubmitOnboardingApplicationCommand </a:t>
            </a: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 (onboarding application ID, expected version, Evidence documents)</a:t>
            </a: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IN" sz="800" b="1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204 – No Content</a:t>
            </a:r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990A3B6-EC76-3679-D9B9-884E9C464532}"/>
              </a:ext>
            </a:extLst>
          </p:cNvPr>
          <p:cNvSpPr/>
          <p:nvPr/>
        </p:nvSpPr>
        <p:spPr>
          <a:xfrm>
            <a:off x="373326" y="1924669"/>
            <a:ext cx="8163191" cy="4251976"/>
          </a:xfrm>
          <a:prstGeom prst="roundRect">
            <a:avLst>
              <a:gd name="adj" fmla="val 2616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IN" sz="10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CQRS</a:t>
            </a:r>
          </a:p>
          <a:p>
            <a:pPr>
              <a:lnSpc>
                <a:spcPct val="150000"/>
              </a:lnSpc>
            </a:pPr>
            <a:r>
              <a:rPr lang="en-IN" sz="1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SubmitOnboardingApplicationCommandHandler</a:t>
            </a:r>
            <a:r>
              <a:rPr lang="en-IN" sz="8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.HandleAsync ()</a:t>
            </a:r>
            <a:endParaRPr lang="en-IN" sz="4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Check if specified Onboarding Application exists; if not flag error</a:t>
            </a: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Optimistic concurrency: if the application's version ≠ the expected version → 409 Conflict (it changed since it was read)</a:t>
            </a: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Create Evidence Documents (DDD call) from the persisted Document IDs (obtained by BFF from DM API, now present in command)</a:t>
            </a: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EF Core (Unit Of Work Implementation):</a:t>
            </a:r>
          </a:p>
          <a:p>
            <a:pPr marL="352425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Collect the domain events (</a:t>
            </a: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the two application events above)</a:t>
            </a: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  <a:sym typeface="Wingdings" panose="05000000000000000000" pitchFamily="2" charset="2"/>
            </a:endParaRPr>
          </a:p>
          <a:p>
            <a:pPr marL="352425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800" b="1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Begin a transaction</a:t>
            </a:r>
          </a:p>
          <a:p>
            <a:pPr marL="352425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Save: the application is updated (status SUBMITTED, SubmittedAt) and its evidence-document rows inserted</a:t>
            </a: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  <a:sym typeface="Wingdings" panose="05000000000000000000" pitchFamily="2" charset="2"/>
            </a:endParaRPr>
          </a:p>
          <a:p>
            <a:pPr marL="352425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Iterate through domain events</a:t>
            </a:r>
          </a:p>
          <a:p>
            <a:pPr marL="538163" lvl="2" indent="-79375">
              <a:lnSpc>
                <a:spcPct val="150000"/>
              </a:lnSpc>
              <a:buFont typeface="Cascadia Code" panose="020B0609020000020004" pitchFamily="49" charset="0"/>
              <a:buChar char="−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Map domain event  Integration event  to a new “Outbox” row with Workflow ID, Correlation ID and Causation ID, Initiator</a:t>
            </a:r>
          </a:p>
          <a:p>
            <a:pPr marL="538163" lvl="2" indent="-79375">
              <a:lnSpc>
                <a:spcPct val="150000"/>
              </a:lnSpc>
              <a:buFont typeface="Cascadia Code" panose="020B0609020000020004" pitchFamily="49" charset="0"/>
              <a:buChar char="−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Order of “Outbox” rows is important – written one row at a time</a:t>
            </a:r>
          </a:p>
          <a:p>
            <a:pPr marL="352425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800" b="1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Commit the transaction</a:t>
            </a: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 – </a:t>
            </a: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OnboardingApplication (updated), evidence documents (inserted) and Outbox rows are committed together</a:t>
            </a: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  <a:sym typeface="Wingdings" panose="05000000000000000000" pitchFamily="2" charset="2"/>
            </a:endParaRPr>
          </a:p>
          <a:p>
            <a:pPr marL="538163" lvl="2" indent="-79375">
              <a:lnSpc>
                <a:spcPct val="150000"/>
              </a:lnSpc>
              <a:buFont typeface="Cascadia Code" panose="020B0609020000020004" pitchFamily="49" charset="0"/>
              <a:buChar char="−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Hence "Transactional Outbox": no "dual write"</a:t>
            </a:r>
          </a:p>
          <a:p>
            <a:pPr marL="352425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Clear domain events list</a:t>
            </a: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32A13C-DE10-DCAC-B95C-D9A6D18EE60E}"/>
              </a:ext>
            </a:extLst>
          </p:cNvPr>
          <p:cNvSpPr txBox="1"/>
          <p:nvPr/>
        </p:nvSpPr>
        <p:spPr>
          <a:xfrm>
            <a:off x="5544850" y="1034630"/>
            <a:ext cx="3299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i="1" dirty="0">
                <a:latin typeface="Cascadia Code" panose="020B0609020000020004" pitchFamily="49" charset="0"/>
                <a:cs typeface="Cascadia Code" panose="020B0609020000020004" pitchFamily="49" charset="0"/>
              </a:rPr>
              <a:t>HTTP POST, Auth policy: </a:t>
            </a:r>
            <a:r>
              <a:rPr lang="en-IN" sz="900" b="1" i="1" dirty="0">
                <a:solidFill>
                  <a:srgbClr val="C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"OnboardingWrite"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i="1" dirty="0">
                <a:latin typeface="Cascadia Code" panose="020B0609020000020004" pitchFamily="49" charset="0"/>
                <a:cs typeface="Cascadia Code" panose="020B0609020000020004" pitchFamily="49" charset="0"/>
              </a:rPr>
              <a:t>Uses DDD, CQRS Command Handler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B1C2BD7-AA96-EC3A-D846-75906B4FF039}"/>
              </a:ext>
            </a:extLst>
          </p:cNvPr>
          <p:cNvSpPr/>
          <p:nvPr/>
        </p:nvSpPr>
        <p:spPr>
          <a:xfrm>
            <a:off x="536995" y="3047373"/>
            <a:ext cx="7809614" cy="1201412"/>
          </a:xfrm>
          <a:prstGeom prst="roundRect">
            <a:avLst>
              <a:gd name="adj" fmla="val 9293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IN" sz="10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Domain Driven Design</a:t>
            </a:r>
          </a:p>
          <a:p>
            <a:pPr>
              <a:lnSpc>
                <a:spcPct val="150000"/>
              </a:lnSpc>
            </a:pPr>
            <a:r>
              <a:rPr lang="en-IN" sz="1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OnboardingApplication</a:t>
            </a:r>
            <a:r>
              <a:rPr lang="en-IN" sz="8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.Submit ()</a:t>
            </a:r>
          </a:p>
          <a:p>
            <a:pPr indent="-277812">
              <a:lnSpc>
                <a:spcPct val="150000"/>
              </a:lnSpc>
            </a:pPr>
            <a:endParaRPr lang="en-IN" sz="4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lvl="1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Invariants: status is DRAFT; at least one evidence document; no document listed twice (one of each type is checked earlier, by the BFF)</a:t>
            </a: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  <a:sym typeface="Wingdings" panose="05000000000000000000" pitchFamily="2" charset="2"/>
            </a:endParaRPr>
          </a:p>
          <a:p>
            <a:pPr marL="88900" lvl="1" indent="-88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Raise domain events in order: “</a:t>
            </a:r>
            <a:r>
              <a:rPr lang="en-US" sz="800" b="1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OnboardingApplicationSubmittedDomainEvent</a:t>
            </a: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”, “</a:t>
            </a:r>
            <a:r>
              <a:rPr lang="en-US" sz="800" b="1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OnboardingApplicationStatusChangedDomainEvent</a:t>
            </a: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”</a:t>
            </a: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  <a:sym typeface="Wingdings" panose="05000000000000000000" pitchFamily="2" charset="2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2BB6961-B599-69D9-4367-34A20FBD771F}"/>
              </a:ext>
            </a:extLst>
          </p:cNvPr>
          <p:cNvSpPr/>
          <p:nvPr/>
        </p:nvSpPr>
        <p:spPr>
          <a:xfrm>
            <a:off x="8953127" y="2758614"/>
            <a:ext cx="3012390" cy="3681683"/>
          </a:xfrm>
          <a:prstGeom prst="roundRect">
            <a:avLst>
              <a:gd name="adj" fmla="val 486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IN" sz="900" b="1" u="sng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Architectural Patterns</a:t>
            </a:r>
            <a:r>
              <a:rPr lang="en-IN" sz="9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en-IN" sz="9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Transactional Outbox Pattern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ABAC + ReBAC Authorization Pattern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CQRS Pattern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DDD Patterns (Aggregate, VO, etc.)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Deferred Domain-event Dispatch Pattern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Domain event </a:t>
            </a: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 Integration Event Pattern</a:t>
            </a:r>
            <a:endParaRPr lang="en-IN" sz="9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Optimistic Concurrency Control Pattern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Repository Pattern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Unit of Work Pattern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Correlation Identifier Pattern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Surrogate Key + Business Key Pattern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Policy-based Authorization Pattern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IN" sz="9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34C1014-5A42-99E6-6AB6-AA0129D9C807}"/>
              </a:ext>
            </a:extLst>
          </p:cNvPr>
          <p:cNvSpPr/>
          <p:nvPr/>
        </p:nvSpPr>
        <p:spPr>
          <a:xfrm>
            <a:off x="8953127" y="944633"/>
            <a:ext cx="3012390" cy="1619250"/>
          </a:xfrm>
          <a:prstGeom prst="roundRect">
            <a:avLst>
              <a:gd name="adj" fmla="val 795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IN" sz="900" b="1" u="sng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Architectural Components</a:t>
            </a:r>
            <a:r>
              <a:rPr lang="en-IN" sz="9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en-IN" sz="9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Microservice API Controller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Command Handler (CQRS)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Aggregate (DDD)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Repository (EF Core DbContext)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Unit of Work (EF Core DbContext)</a:t>
            </a:r>
          </a:p>
        </p:txBody>
      </p:sp>
      <p:sp>
        <p:nvSpPr>
          <p:cNvPr id="4" name="Title 24">
            <a:extLst>
              <a:ext uri="{FF2B5EF4-FFF2-40B4-BE49-F238E27FC236}">
                <a16:creationId xmlns:a16="http://schemas.microsoft.com/office/drawing/2014/main" id="{49D412E9-A31E-2658-0D26-004FDD71D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" y="131074"/>
            <a:ext cx="11912600" cy="460968"/>
          </a:xfrm>
          <a:noFill/>
          <a:ln>
            <a:noFill/>
          </a:ln>
        </p:spPr>
        <p:txBody>
          <a:bodyPr lIns="36576" tIns="18288">
            <a:noAutofit/>
          </a:bodyPr>
          <a:lstStyle/>
          <a:p>
            <a:r>
              <a:rPr lang="en-IN" sz="2500" b="1" i="0" dirty="0">
                <a:solidFill>
                  <a:srgbClr val="162B4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Submitting OnboardingApplication, Outbox records to CO DB</a:t>
            </a:r>
          </a:p>
        </p:txBody>
      </p:sp>
    </p:spTree>
    <p:extLst>
      <p:ext uri="{BB962C8B-B14F-4D97-AF65-F5344CB8AC3E}">
        <p14:creationId xmlns:p14="http://schemas.microsoft.com/office/powerpoint/2010/main" val="345638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C7C18F-E745-156E-262B-A3629FAD5BA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lIns="320040" anchor="ctr"/>
          <a:lstStyle/>
          <a:p>
            <a:pPr algn="l"/>
            <a:r>
              <a:rPr lang="en-US" sz="3200" b="1" i="0" dirty="0">
                <a:solidFill>
                  <a:srgbClr val="FFFFFF"/>
                </a:solidFill>
                <a:latin typeface="Aptos Display"/>
              </a:rPr>
              <a:t>Relay → Kafka: publishing Customer Onboarding's Outbox</a:t>
            </a:r>
            <a:endParaRPr lang="en-IN" sz="3200" b="1" i="0" dirty="0">
              <a:solidFill>
                <a:srgbClr val="FFFFFF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896710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D7C26-042E-1CBD-978F-73E7649BF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EA73D49-D765-FA89-D225-56DC1956785B}"/>
              </a:ext>
            </a:extLst>
          </p:cNvPr>
          <p:cNvSpPr/>
          <p:nvPr/>
        </p:nvSpPr>
        <p:spPr>
          <a:xfrm>
            <a:off x="192243" y="749299"/>
            <a:ext cx="8392957" cy="5892801"/>
          </a:xfrm>
          <a:prstGeom prst="roundRect">
            <a:avLst>
              <a:gd name="adj" fmla="val 3483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IN" sz="11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Customer Outbox Publisher </a:t>
            </a:r>
            <a:r>
              <a:rPr lang="en-IN" sz="11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Worker Process – </a:t>
            </a:r>
            <a:r>
              <a:rPr lang="en-US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.NET Worker Service (console process / container), owned by CO</a:t>
            </a:r>
            <a:endParaRPr lang="en-IN" sz="9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en-IN" sz="1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CustomerOutboxPublisher</a:t>
            </a:r>
            <a:r>
              <a:rPr lang="en-IN" sz="8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.PublishPendingAsync()</a:t>
            </a: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Hosted service: CustomerOutboxPublisherHostedService (a loop) → CustomerOutboxPublisher.PublishPendingAsync() → PublishBatchAsync()</a:t>
            </a: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Polls every 2 seconds, up to 10 batches per poll, so an event and its follow-up (Submitted, then StatusChanged) don't each wait a full poll</a:t>
            </a: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Connects to EwpCustomerDb as ewp_customer_outbox_relay: it may only read and update outbox_messages, and cannot read customers</a:t>
            </a: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Connects to Kafka as its own user, </a:t>
            </a:r>
            <a:r>
              <a:rPr lang="en-US" sz="800" i="1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ewp</a:t>
            </a: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-co-outbox-relay: it may only write Customer Onboarding's topics</a:t>
            </a: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800" b="1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PublishBatchAsync()</a:t>
            </a: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: one batch, in </a:t>
            </a:r>
            <a:r>
              <a:rPr lang="en-US" sz="800" b="1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one database transaction</a:t>
            </a:r>
          </a:p>
          <a:p>
            <a:pPr marL="352425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Begin a transaction; Claim up to 50 rows (</a:t>
            </a:r>
            <a:r>
              <a:rPr lang="en-US" sz="800" i="1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BatchSize</a:t>
            </a: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) with one SQL query:</a:t>
            </a:r>
          </a:p>
          <a:p>
            <a:pPr marL="352425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not yet published (</a:t>
            </a:r>
            <a:r>
              <a:rPr lang="en-US" sz="800" i="1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published_at</a:t>
            </a: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 IS NULL), of an event type the relay, publishes: </a:t>
            </a:r>
            <a:r>
              <a:rPr lang="en-US" sz="800" i="1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CustomerCreated</a:t>
            </a: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, OnboardingApplicationSubmitted, </a:t>
            </a:r>
            <a:r>
              <a:rPr lang="en-US" sz="800" i="1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OnboardingApplicationStatusChanged</a:t>
            </a: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, </a:t>
            </a:r>
            <a:r>
              <a:rPr lang="en-US" sz="800" i="1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OnboardingApplicationRejected</a:t>
            </a: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;</a:t>
            </a:r>
          </a:p>
          <a:p>
            <a:pPr marL="352425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not parked (fewer than 10 attempts, </a:t>
            </a:r>
            <a:r>
              <a:rPr lang="en-US" sz="800" i="1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MaxAttempts</a:t>
            </a: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); due again after a failure: back-off 5 s, doubling per attempt;</a:t>
            </a:r>
          </a:p>
          <a:p>
            <a:pPr marL="352425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the oldest unpublished row of its aggregate: a later event of the same customer or application waits until the earlier one is out (NOT EXISTS … </a:t>
            </a:r>
            <a:r>
              <a:rPr lang="en-US" sz="800" i="1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earlier.sequence</a:t>
            </a: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 &lt; </a:t>
            </a:r>
            <a:r>
              <a:rPr lang="en-US" sz="800" i="1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o.sequence</a:t>
            </a: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);</a:t>
            </a:r>
          </a:p>
          <a:p>
            <a:pPr marL="352425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ORDER BY sequence; FOR UPDATE SKIP LOCKED: the rows are locked, and a second relay instance skips them instead of waiting, so each row goes to exactly one instance.</a:t>
            </a:r>
          </a:p>
          <a:p>
            <a:pPr marL="352425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For each row:</a:t>
            </a:r>
          </a:p>
          <a:p>
            <a:pPr marL="538163" lvl="2" indent="-79375">
              <a:lnSpc>
                <a:spcPct val="150000"/>
              </a:lnSpc>
              <a:buFont typeface="Cascadia Code" panose="020B0609020000020004" pitchFamily="49" charset="0"/>
              <a:buChar char="−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topic chosen from the event type, e.g. OnboardingApplicationSubmitted → onboarding.application.submitted;</a:t>
            </a:r>
          </a:p>
          <a:p>
            <a:pPr marL="538163" lvl="2" indent="-79375">
              <a:lnSpc>
                <a:spcPct val="150000"/>
              </a:lnSpc>
              <a:buFont typeface="Cascadia Code" panose="020B0609020000020004" pitchFamily="49" charset="0"/>
              <a:buChar char="−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publish span started, continuing the trace of the original HTTP request (traceparent stored on the row);</a:t>
            </a:r>
          </a:p>
          <a:p>
            <a:pPr marL="538163" lvl="2" indent="-79375">
              <a:lnSpc>
                <a:spcPct val="150000"/>
              </a:lnSpc>
              <a:buFont typeface="Cascadia Code" panose="020B0609020000020004" pitchFamily="49" charset="0"/>
              <a:buChar char="−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produce to Kafka:</a:t>
            </a:r>
          </a:p>
          <a:p>
            <a:pPr marL="808038" lvl="3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key = aggregate ID, so all events of one application land in one partition, in order;</a:t>
            </a:r>
          </a:p>
          <a:p>
            <a:pPr marL="808038" lvl="3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value = the integration event (JSON payload stored on the row);</a:t>
            </a:r>
          </a:p>
          <a:p>
            <a:pPr marL="808038" lvl="3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headers = traceparent, message ID, event type, workflow ID, correlation ID, causation ID;</a:t>
            </a:r>
          </a:p>
          <a:p>
            <a:pPr marL="808038" lvl="3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producer: idempotent, acks=all, so the broker confirms only once every in-sync replica has it, and no duplicates appear from producer retries;</a:t>
            </a:r>
          </a:p>
          <a:p>
            <a:pPr marL="352425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success → </a:t>
            </a:r>
            <a:r>
              <a:rPr lang="en-US" sz="800" i="1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published_at</a:t>
            </a: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 set, attempt counted, error cleared;</a:t>
            </a:r>
          </a:p>
          <a:p>
            <a:pPr marL="352425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failure → attempt counted, </a:t>
            </a:r>
            <a:r>
              <a:rPr lang="en-US" sz="800" i="1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last_attempt_at</a:t>
            </a: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 and </a:t>
            </a:r>
            <a:r>
              <a:rPr lang="en-US" sz="800" i="1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last_error</a:t>
            </a: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 recorded, the row waits its back-off. After 10 failures it's PARKED: no more retries, and later events of the same aggregate are held back (never published out of order). Logged as an error, and readiness turns Degraded.</a:t>
            </a:r>
          </a:p>
          <a:p>
            <a:pPr marL="352425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Save the row updates, then commit, which releases the locks.</a:t>
            </a:r>
          </a:p>
          <a:p>
            <a:pPr marL="352425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  <a:sym typeface="Wingdings" panose="05000000000000000000" pitchFamily="2" charset="2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  <a:sym typeface="Wingdings" panose="05000000000000000000" pitchFamily="2" charset="2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IN" sz="800" b="1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204 – No Content</a:t>
            </a:r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2BB6961-B599-69D9-4367-34A20FBD771F}"/>
              </a:ext>
            </a:extLst>
          </p:cNvPr>
          <p:cNvSpPr/>
          <p:nvPr/>
        </p:nvSpPr>
        <p:spPr>
          <a:xfrm>
            <a:off x="8743950" y="2557557"/>
            <a:ext cx="3221567" cy="4084543"/>
          </a:xfrm>
          <a:prstGeom prst="roundRect">
            <a:avLst>
              <a:gd name="adj" fmla="val 486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IN" sz="900" b="1" u="sng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Architectural Patterns</a:t>
            </a:r>
            <a:r>
              <a:rPr lang="en-IN" sz="9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en-IN" sz="9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Transactional Outbox: Polling Publisher (Message Relay)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Competing Consumers on the Outbox table (FOR UPDATE SKIP LOCKED)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Per-aggregate ordering (sequence + partition key = aggregate ID)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At-least-once delivery, made safe by the consumer's Idempotent Receiver / Inbox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Retry with exponential back-off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Parking a poison message (kept in the Outbox for an operator; later events of the aggregate held back)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Correlation and causation IDs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Distributed tracing (W3C trace context carried across the queue)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Least privilege (the database user and Kafka user can do only this job)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34C1014-5A42-99E6-6AB6-AA0129D9C807}"/>
              </a:ext>
            </a:extLst>
          </p:cNvPr>
          <p:cNvSpPr/>
          <p:nvPr/>
        </p:nvSpPr>
        <p:spPr>
          <a:xfrm>
            <a:off x="8743950" y="749299"/>
            <a:ext cx="3221567" cy="1651001"/>
          </a:xfrm>
          <a:prstGeom prst="roundRect">
            <a:avLst>
              <a:gd name="adj" fmla="val 795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IN" sz="900" b="1" u="sng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Architectural Components</a:t>
            </a:r>
            <a:r>
              <a:rPr lang="en-IN" sz="9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en-IN" sz="9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Background worker (.NET hosted service)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Outbox table (outbox_messages)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Kafka producer (idempotent)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Kafka topics (one per event type)</a:t>
            </a:r>
            <a:b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endParaRPr lang="en-IN" sz="9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Title 24">
            <a:extLst>
              <a:ext uri="{FF2B5EF4-FFF2-40B4-BE49-F238E27FC236}">
                <a16:creationId xmlns:a16="http://schemas.microsoft.com/office/drawing/2014/main" id="{49D412E9-A31E-2658-0D26-004FDD71D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" y="131074"/>
            <a:ext cx="11912600" cy="460968"/>
          </a:xfrm>
          <a:noFill/>
          <a:ln>
            <a:noFill/>
          </a:ln>
        </p:spPr>
        <p:txBody>
          <a:bodyPr lIns="36576" tIns="18288">
            <a:noAutofit/>
          </a:bodyPr>
          <a:lstStyle/>
          <a:p>
            <a:r>
              <a:rPr lang="en-US" sz="2500" b="1" i="0" dirty="0">
                <a:solidFill>
                  <a:srgbClr val="162B4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Relay → Kafka: publishing the Customer Onboarding Outbox</a:t>
            </a:r>
            <a:endParaRPr lang="en-IN" sz="2500" b="1" i="0" dirty="0">
              <a:solidFill>
                <a:srgbClr val="162B4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3075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C7C18F-E745-156E-262B-A3629FAD5BA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lIns="320040" anchor="ctr"/>
          <a:lstStyle/>
          <a:p>
            <a:pPr algn="l"/>
            <a:r>
              <a:rPr lang="en-US" sz="3200" b="1" i="0" dirty="0">
                <a:solidFill>
                  <a:srgbClr val="FFFFFF"/>
                </a:solidFill>
                <a:latin typeface="Aptos Display"/>
              </a:rPr>
              <a:t>Kafka → Subscriber → KYC API: opening the KYC case</a:t>
            </a:r>
          </a:p>
        </p:txBody>
      </p:sp>
    </p:spTree>
    <p:extLst>
      <p:ext uri="{BB962C8B-B14F-4D97-AF65-F5344CB8AC3E}">
        <p14:creationId xmlns:p14="http://schemas.microsoft.com/office/powerpoint/2010/main" val="3181065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D7C26-042E-1CBD-978F-73E7649BF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EA73D49-D765-FA89-D225-56DC1956785B}"/>
              </a:ext>
            </a:extLst>
          </p:cNvPr>
          <p:cNvSpPr/>
          <p:nvPr/>
        </p:nvSpPr>
        <p:spPr>
          <a:xfrm>
            <a:off x="192243" y="973666"/>
            <a:ext cx="11707657" cy="4343401"/>
          </a:xfrm>
          <a:prstGeom prst="roundRect">
            <a:avLst>
              <a:gd name="adj" fmla="val 3483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IN" sz="11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KYC Case Opening Subscriber </a:t>
            </a:r>
            <a:r>
              <a:rPr lang="en-IN" sz="11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Worker Process</a:t>
            </a:r>
            <a:r>
              <a:rPr lang="en-IN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– </a:t>
            </a:r>
            <a:r>
              <a:rPr lang="en-US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.NET Worker Service (console process / container), owned by KYC</a:t>
            </a:r>
            <a:endParaRPr lang="en-IN" sz="9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en-IN" sz="1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Kafka topic: “onboarding.application.submitted”</a:t>
            </a:r>
          </a:p>
          <a:p>
            <a:pPr marL="177800" indent="-88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Read as its own Kafka user </a:t>
            </a:r>
            <a:r>
              <a:rPr lang="en-US" sz="8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ewp-</a:t>
            </a:r>
            <a:r>
              <a:rPr lang="en-US" sz="800" b="1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kyc</a:t>
            </a:r>
            <a:r>
              <a:rPr lang="en-US" sz="8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-case-opening-subscriber</a:t>
            </a: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(ACLs: read this topic, use its own consumer group, write only its dead-letter topic). Only the </a:t>
            </a:r>
            <a:r>
              <a:rPr lang="en-US" sz="8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Customer Onboarding relay</a:t>
            </a: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may write to this topic.</a:t>
            </a:r>
            <a:endParaRPr lang="en-IN" sz="800" i="1" dirty="0">
              <a:solidFill>
                <a:prstClr val="black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KycCaseOpeningSubscriber</a:t>
            </a:r>
            <a:r>
              <a:rPr kumimoji="0" lang="en-I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worker process, via </a:t>
            </a:r>
            <a:r>
              <a:rPr kumimoji="0" lang="en-IN" sz="8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KafkaSubscriberHostedService</a:t>
            </a:r>
            <a:r>
              <a:rPr kumimoji="0" lang="en-I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.ConsumeLoopAsync()</a:t>
            </a:r>
            <a:endParaRPr kumimoji="0" lang="en-IN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177800" marR="0" lvl="0" indent="-88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  <a:sym typeface="Wingdings" panose="05000000000000000000" pitchFamily="2" charset="2"/>
              </a:rPr>
              <a:t>consumer.Consume()</a:t>
            </a: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  <a:sym typeface="Wingdings" panose="05000000000000000000" pitchFamily="2" charset="2"/>
              </a:rPr>
              <a:t> reads the next message of </a:t>
            </a:r>
            <a:r>
              <a:rPr kumimoji="0" lang="en-US" sz="8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  <a:sym typeface="Wingdings" panose="05000000000000000000" pitchFamily="2" charset="2"/>
              </a:rPr>
              <a:t>onboarding.application.submitted</a:t>
            </a: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  <a:sym typeface="Wingdings" panose="05000000000000000000" pitchFamily="2" charset="2"/>
              </a:rPr>
              <a:t>, consumer group </a:t>
            </a:r>
            <a:r>
              <a:rPr kumimoji="0" lang="en-US" sz="8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  <a:sym typeface="Wingdings" panose="05000000000000000000" pitchFamily="2" charset="2"/>
              </a:rPr>
              <a:t>customer-kyc.case-opening-subscriber</a:t>
            </a:r>
          </a:p>
          <a:p>
            <a:pPr marL="177800" marR="0" lvl="0" indent="-88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  <a:sym typeface="Wingdings" panose="05000000000000000000" pitchFamily="2" charset="2"/>
              </a:rPr>
              <a:t>Auto-commit</a:t>
            </a: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  <a:sym typeface="Wingdings" panose="05000000000000000000" pitchFamily="2" charset="2"/>
              </a:rPr>
              <a:t> is </a:t>
            </a:r>
            <a:r>
              <a:rPr kumimoji="0" lang="en-US" sz="8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  <a:sym typeface="Wingdings" panose="05000000000000000000" pitchFamily="2" charset="2"/>
              </a:rPr>
              <a:t>OFF</a:t>
            </a: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  <a:sym typeface="Wingdings" panose="05000000000000000000" pitchFamily="2" charset="2"/>
              </a:rPr>
              <a:t>: the offset is committed only after the </a:t>
            </a:r>
            <a:r>
              <a:rPr kumimoji="0" lang="en-US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  <a:sym typeface="Wingdings" panose="05000000000000000000" pitchFamily="2" charset="2"/>
              </a:rPr>
              <a:t>message is handled</a:t>
            </a:r>
          </a:p>
          <a:p>
            <a:pPr marL="177800" marR="0" lvl="0" indent="-88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  <a:sym typeface="Wingdings" panose="05000000000000000000" pitchFamily="2" charset="2"/>
              </a:rPr>
              <a:t>Starts a process span that continues the trace from the Kafka traceparent header</a:t>
            </a:r>
          </a:p>
          <a:p>
            <a:pPr>
              <a:lnSpc>
                <a:spcPct val="150000"/>
              </a:lnSpc>
              <a:defRPr/>
            </a:pPr>
            <a:r>
              <a:rPr lang="en-IN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KycCaseOpeningProcessor</a:t>
            </a:r>
            <a:r>
              <a:rPr lang="en-IN" sz="8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.ProcessAsync()</a:t>
            </a:r>
          </a:p>
          <a:p>
            <a:pPr marL="177800" indent="-88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Parse the envelope</a:t>
            </a:r>
            <a:r>
              <a:rPr lang="en-US" sz="800" i="1" dirty="0">
                <a:solidFill>
                  <a:prstClr val="black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: message ID present; event type = </a:t>
            </a:r>
            <a:r>
              <a:rPr lang="en-US" sz="800" b="1" dirty="0">
                <a:solidFill>
                  <a:prstClr val="black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OnboardingApplicationSubmitted</a:t>
            </a:r>
            <a:r>
              <a:rPr lang="en-US" sz="800" i="1" dirty="0">
                <a:solidFill>
                  <a:prstClr val="black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; application ref, number, customer number and branch present. Otherwise → dead-letter with the reason.</a:t>
            </a:r>
          </a:p>
          <a:p>
            <a:pPr marL="177800" indent="-88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Initiator</a:t>
            </a:r>
            <a:r>
              <a:rPr lang="en-US" sz="800" i="1" dirty="0">
                <a:solidFill>
                  <a:prstClr val="black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 (InitiatedByUserId) </a:t>
            </a:r>
            <a:r>
              <a:rPr lang="en-US" sz="800" b="1" dirty="0">
                <a:solidFill>
                  <a:prstClr val="black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missing</a:t>
            </a:r>
            <a:r>
              <a:rPr lang="en-US" sz="800" i="1" dirty="0">
                <a:solidFill>
                  <a:prstClr val="black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 → logged as a warning. The case still opens, but separation of duties will deny every decision on it (it fails closed).</a:t>
            </a:r>
          </a:p>
          <a:p>
            <a:pPr marL="177800" indent="-88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M2M token</a:t>
            </a:r>
            <a:r>
              <a:rPr lang="en-US" sz="800" i="1" dirty="0">
                <a:solidFill>
                  <a:prstClr val="black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: </a:t>
            </a:r>
            <a:r>
              <a:rPr lang="en-US" sz="800" b="1" dirty="0">
                <a:solidFill>
                  <a:prstClr val="black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CachedM2MTokenClient.GetAccessTokenAsync()</a:t>
            </a:r>
            <a:r>
              <a:rPr lang="en-US" sz="800" i="1" dirty="0">
                <a:solidFill>
                  <a:prstClr val="black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 (client credentials, cached until shortly before expiry)</a:t>
            </a:r>
          </a:p>
          <a:p>
            <a:pPr marL="177800" lvl="1" indent="-88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8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SendAsync</a:t>
            </a:r>
            <a:r>
              <a:rPr lang="en-US" sz="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()</a:t>
            </a:r>
            <a:r>
              <a:rPr lang="en-US" sz="800" i="1" dirty="0">
                <a:solidFill>
                  <a:prstClr val="black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: POST https://kyc-api…/internal/v1/kyc/cases/from-application-submitted - this is the KYC API (coming up in next slide)</a:t>
            </a:r>
          </a:p>
          <a:p>
            <a:pPr marL="449263" lvl="1" indent="-171450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sz="800" i="1" dirty="0">
                <a:solidFill>
                  <a:prstClr val="black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Authorization: Bearer &lt;machine-2-machine token&gt;</a:t>
            </a:r>
            <a:endParaRPr lang="en-US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  <a:sym typeface="Wingdings" panose="05000000000000000000" pitchFamily="2" charset="2"/>
            </a:endParaRPr>
          </a:p>
          <a:p>
            <a:pPr marL="449263" lvl="1" indent="-171450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body = the application's facts, causationId = this message's ID (the Inbox key) and the workflow and correlation IDs</a:t>
            </a:r>
          </a:p>
          <a:p>
            <a:pPr marL="449263" lvl="1" indent="-171450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through the resilience pipeline: 10 s per attempt, retries with back-off and jitter, a circuit breaker, a 60 s total budget</a:t>
            </a:r>
          </a:p>
          <a:p>
            <a:pPr marL="449263" lvl="1" indent="-171450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401 → token invalidated, one retry with a fresh token</a:t>
            </a:r>
          </a:p>
          <a:p>
            <a:pPr marL="177800" indent="-88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Three outcomes</a:t>
            </a:r>
            <a:r>
              <a:rPr lang="en-US" sz="800" i="1" dirty="0">
                <a:solidFill>
                  <a:prstClr val="black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 – this decides the process’s committing offset to Kafka (</a:t>
            </a:r>
            <a:r>
              <a:rPr lang="en-US" sz="800" b="1" dirty="0">
                <a:solidFill>
                  <a:prstClr val="black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Processed</a:t>
            </a:r>
            <a:r>
              <a:rPr lang="en-US" sz="800" i="1" dirty="0">
                <a:solidFill>
                  <a:prstClr val="black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, </a:t>
            </a:r>
            <a:r>
              <a:rPr lang="en-US" sz="800" b="1" dirty="0">
                <a:solidFill>
                  <a:prstClr val="black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Dead-letter</a:t>
            </a:r>
            <a:r>
              <a:rPr lang="en-US" sz="800" i="1" dirty="0">
                <a:solidFill>
                  <a:prstClr val="black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, </a:t>
            </a:r>
            <a:r>
              <a:rPr lang="en-US" sz="800" b="1" dirty="0">
                <a:solidFill>
                  <a:prstClr val="black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Transient</a:t>
            </a:r>
            <a:r>
              <a:rPr lang="en-US" sz="800" i="1" dirty="0">
                <a:solidFill>
                  <a:prstClr val="black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):</a:t>
            </a:r>
          </a:p>
          <a:p>
            <a:pPr marL="449263" lvl="1" indent="-171450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sz="800" i="1" dirty="0">
                <a:solidFill>
                  <a:prstClr val="black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2xx → Processed; just commit the offset to Kafka.</a:t>
            </a:r>
            <a:endParaRPr lang="en-US" sz="800" i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  <a:sym typeface="Wingdings" panose="05000000000000000000" pitchFamily="2" charset="2"/>
            </a:endParaRPr>
          </a:p>
          <a:p>
            <a:pPr marL="449263" lvl="1" indent="-171450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sz="800" i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401 / 403 / 408 / 429 / 5xx → Transient (TransientProcessingException) - commit nothing: seek back to the same message and retry after a back-off. Nothing is skipped.</a:t>
            </a:r>
          </a:p>
          <a:p>
            <a:pPr marL="457200" lvl="2" indent="-171450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sz="800" i="1" dirty="0">
                <a:solidFill>
                  <a:prstClr val="black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any other 4xx → Dead-letter - first write a copy to its dead-letter topic, then commit the offset;</a:t>
            </a:r>
          </a:p>
        </p:txBody>
      </p:sp>
      <p:sp>
        <p:nvSpPr>
          <p:cNvPr id="4" name="Title 24">
            <a:extLst>
              <a:ext uri="{FF2B5EF4-FFF2-40B4-BE49-F238E27FC236}">
                <a16:creationId xmlns:a16="http://schemas.microsoft.com/office/drawing/2014/main" id="{49D412E9-A31E-2658-0D26-004FDD71D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" y="131074"/>
            <a:ext cx="11912600" cy="460968"/>
          </a:xfrm>
          <a:noFill/>
          <a:ln>
            <a:noFill/>
          </a:ln>
        </p:spPr>
        <p:txBody>
          <a:bodyPr lIns="36576" tIns="18288">
            <a:noAutofit/>
          </a:bodyPr>
          <a:lstStyle/>
          <a:p>
            <a:r>
              <a:rPr lang="en-US" sz="2500" b="1" i="0" dirty="0">
                <a:solidFill>
                  <a:srgbClr val="162B4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Kafka → Subscriber → KYC API: opening the KYC case</a:t>
            </a:r>
            <a:endParaRPr lang="en-IN" sz="2500" b="1" i="0" dirty="0">
              <a:solidFill>
                <a:srgbClr val="162B4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5867405-B01C-A7C3-20D2-1F477BBE25E5}"/>
              </a:ext>
            </a:extLst>
          </p:cNvPr>
          <p:cNvSpPr/>
          <p:nvPr/>
        </p:nvSpPr>
        <p:spPr>
          <a:xfrm>
            <a:off x="192243" y="5571068"/>
            <a:ext cx="11707657" cy="584824"/>
          </a:xfrm>
          <a:prstGeom prst="roundRect">
            <a:avLst>
              <a:gd name="adj" fmla="val 2143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marL="88900"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8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  <a:sym typeface="Wingdings" panose="05000000000000000000" pitchFamily="2" charset="2"/>
              </a:rPr>
              <a:t>Note</a:t>
            </a:r>
            <a:r>
              <a:rPr kumimoji="0" lang="en-US" sz="800" i="1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  <a:sym typeface="Wingdings" panose="05000000000000000000" pitchFamily="2" charset="2"/>
              </a:rPr>
              <a:t>: Once the KYC Case Opening Subscriber’s intended task is complete, it only logs, commits its offset to Kafka and, for a permanent failure, writes a copy to its dead-letter topic. No database at all; its machine token is cached in memory only.</a:t>
            </a:r>
            <a:endParaRPr lang="en-US" sz="800" b="1" i="1" u="sng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32910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D7C26-042E-1CBD-978F-73E7649BF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2BB6961-B599-69D9-4367-34A20FBD771F}"/>
              </a:ext>
            </a:extLst>
          </p:cNvPr>
          <p:cNvSpPr/>
          <p:nvPr/>
        </p:nvSpPr>
        <p:spPr>
          <a:xfrm>
            <a:off x="1115484" y="3187859"/>
            <a:ext cx="9920816" cy="2861110"/>
          </a:xfrm>
          <a:prstGeom prst="roundRect">
            <a:avLst>
              <a:gd name="adj" fmla="val 486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IN" sz="900" b="1" u="sng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Architectural Patterns</a:t>
            </a:r>
            <a:r>
              <a:rPr lang="en-IN" sz="9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en-IN" sz="9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9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Competing Consumers / consumer groups</a:t>
            </a:r>
            <a:r>
              <a:rPr lang="en-US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 instances of the subscriber share the topic's partitions; each partition goes to one instance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9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Manual offset commit</a:t>
            </a:r>
            <a:r>
              <a:rPr lang="en-US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 commit only after the message is handled (at-least-once delivery)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9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Dead Letter Channel</a:t>
            </a:r>
            <a:r>
              <a:rPr lang="en-US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 for permanent failures only, with the reason in headers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9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Retry in place with exponential back-off (Seek back)</a:t>
            </a:r>
            <a:r>
              <a:rPr lang="en-US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 transient failures, order preserved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9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Circuit Breaker + timeouts + bounded retries</a:t>
            </a:r>
            <a:r>
              <a:rPr lang="en-US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 the resilience pipeline on the API call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9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Message Translator / Anti-Corruption Layer</a:t>
            </a:r>
            <a:r>
              <a:rPr lang="en-US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 event envelope → API request contract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9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Client Credentials (M2M) + client pinning</a:t>
            </a:r>
            <a:r>
              <a:rPr lang="en-US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 its own identity, one scope, accepted only from this client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9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Correlation Identifier</a:t>
            </a:r>
            <a:r>
              <a:rPr lang="en-US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 workflow, correlation and causation IDs carried on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9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Distributed tracing</a:t>
            </a:r>
            <a:r>
              <a:rPr lang="en-US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 the process span continues the trace from the traceparent header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9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Stateless worker</a:t>
            </a:r>
            <a:r>
              <a:rPr lang="en-US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 no database; its only durable state is Kafka's offset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9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Least privilege</a:t>
            </a:r>
            <a:r>
              <a:rPr lang="en-US" sz="9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 Kafka ACLs (read its topic, its group, write only its DLQ) and one OAuth scope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34C1014-5A42-99E6-6AB6-AA0129D9C807}"/>
              </a:ext>
            </a:extLst>
          </p:cNvPr>
          <p:cNvSpPr/>
          <p:nvPr/>
        </p:nvSpPr>
        <p:spPr>
          <a:xfrm>
            <a:off x="1115485" y="1070567"/>
            <a:ext cx="9920816" cy="1871134"/>
          </a:xfrm>
          <a:prstGeom prst="roundRect">
            <a:avLst>
              <a:gd name="adj" fmla="val 795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IN" sz="800" b="1" u="sng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Architectural Components</a:t>
            </a:r>
            <a:r>
              <a:rPr lang="en-IN" sz="8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en-IN" sz="8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8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Background worker</a:t>
            </a:r>
            <a:r>
              <a:rPr lang="en-IN" sz="8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(.NET Worker Service, a hosted service)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8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Kafka consumer</a:t>
            </a:r>
            <a:r>
              <a:rPr lang="en-IN" sz="8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in a consumer group (customer-</a:t>
            </a:r>
            <a:r>
              <a:rPr lang="en-IN" sz="800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kyc.case</a:t>
            </a:r>
            <a:r>
              <a:rPr lang="en-IN" sz="8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-opening-subscriber)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8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Shared consume loop</a:t>
            </a:r>
            <a:r>
              <a:rPr lang="en-IN" sz="8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(</a:t>
            </a:r>
            <a:r>
              <a:rPr lang="en-IN" sz="800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KafkaSubscriberHostedService</a:t>
            </a:r>
            <a:r>
              <a:rPr lang="en-IN" sz="8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8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Message processor</a:t>
            </a:r>
            <a:r>
              <a:rPr lang="en-IN" sz="8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(</a:t>
            </a:r>
            <a:r>
              <a:rPr lang="en-IN" sz="800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KycCaseOpeningProcessor</a:t>
            </a:r>
            <a:r>
              <a:rPr lang="en-IN" sz="8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8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M2M token client</a:t>
            </a:r>
            <a:r>
              <a:rPr lang="en-IN" sz="8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(CachedM2MTokenClient, OAuth 2.0 client credentials)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8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HTTP client with a resilience pipeline</a:t>
            </a:r>
            <a:r>
              <a:rPr lang="en-IN" sz="8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(Polly, via </a:t>
            </a:r>
            <a:r>
              <a:rPr lang="en-IN" sz="800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AddStandardResilienceHandler</a:t>
            </a:r>
            <a:r>
              <a:rPr lang="en-IN" sz="8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IN" sz="8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Dead-letter topic</a:t>
            </a:r>
            <a:r>
              <a:rPr lang="en-IN" sz="8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(customer-</a:t>
            </a:r>
            <a:r>
              <a:rPr lang="en-IN" sz="800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kyc.case</a:t>
            </a:r>
            <a:r>
              <a:rPr lang="en-IN" sz="8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-opening-</a:t>
            </a:r>
            <a:r>
              <a:rPr lang="en-IN" sz="800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subscriber.dlq</a:t>
            </a:r>
            <a:r>
              <a:rPr lang="en-IN" sz="8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IN" sz="8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endParaRPr lang="en-IN" sz="8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Title 24">
            <a:extLst>
              <a:ext uri="{FF2B5EF4-FFF2-40B4-BE49-F238E27FC236}">
                <a16:creationId xmlns:a16="http://schemas.microsoft.com/office/drawing/2014/main" id="{49D412E9-A31E-2658-0D26-004FDD71D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" y="131074"/>
            <a:ext cx="11912600" cy="460968"/>
          </a:xfrm>
          <a:noFill/>
          <a:ln>
            <a:noFill/>
          </a:ln>
        </p:spPr>
        <p:txBody>
          <a:bodyPr lIns="36576" tIns="18288">
            <a:noAutofit/>
          </a:bodyPr>
          <a:lstStyle/>
          <a:p>
            <a:r>
              <a:rPr lang="en-US" sz="2500" b="1" i="0" dirty="0">
                <a:solidFill>
                  <a:srgbClr val="162B4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Kafka → Subscriber → KYC API: opening the KYC case</a:t>
            </a:r>
            <a:endParaRPr lang="en-IN" sz="2500" b="1" i="0" dirty="0">
              <a:solidFill>
                <a:srgbClr val="162B4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681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2406</Words>
  <Application>Microsoft Office PowerPoint</Application>
  <PresentationFormat>Widescreen</PresentationFormat>
  <Paragraphs>356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 Display</vt:lpstr>
      <vt:lpstr>Arial</vt:lpstr>
      <vt:lpstr>Calibri</vt:lpstr>
      <vt:lpstr>Calibri Light</vt:lpstr>
      <vt:lpstr>Cascadia Code</vt:lpstr>
      <vt:lpstr>Courier New</vt:lpstr>
      <vt:lpstr>Wingdings</vt:lpstr>
      <vt:lpstr>Office Theme</vt:lpstr>
      <vt:lpstr>Customer Onboarding – Writing to API DB</vt:lpstr>
      <vt:lpstr>Writing Customer, Address, Outbox records to CO DB</vt:lpstr>
      <vt:lpstr>Creating OnboardingApplication , Outbox records to CO DB</vt:lpstr>
      <vt:lpstr>Submitting OnboardingApplication, Outbox records to CO DB</vt:lpstr>
      <vt:lpstr>Relay → Kafka: publishing Customer Onboarding's Outbox</vt:lpstr>
      <vt:lpstr>Relay → Kafka: publishing the Customer Onboarding Outbox</vt:lpstr>
      <vt:lpstr>Kafka → Subscriber → KYC API: opening the KYC case</vt:lpstr>
      <vt:lpstr>Kafka → Subscriber → KYC API: opening the KYC case</vt:lpstr>
      <vt:lpstr>Kafka → Subscriber → KYC API: opening the KYC case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EWP V3 Saga Implementation</dc:title>
  <dc:subject>Professional restyling; textual content and slide structure preserved</dc:subject>
  <dc:creator>Dinesh Muciliath Jayadevan</dc:creator>
  <cp:lastModifiedBy>Dinesh Muciliath Jayadevan</cp:lastModifiedBy>
  <cp:revision>80</cp:revision>
  <dcterms:created xsi:type="dcterms:W3CDTF">2026-10-09T17:34:36Z</dcterms:created>
  <dcterms:modified xsi:type="dcterms:W3CDTF">2026-10-10T18:59:15Z</dcterms:modified>
</cp:coreProperties>
</file>