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>
        <p:scale>
          <a:sx n="100" d="100"/>
          <a:sy n="100" d="100"/>
        </p:scale>
        <p:origin x="2404" y="1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3F163-25D3-524C-36C6-21DAC5833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C44ECF-1767-0A87-76A0-AA424C8052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6C0384-3E41-64E0-9953-60A1D0C53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C051C-301A-4C05-BB7C-609F0D3C8F39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FD458E-B9A8-B885-DDE2-D427DE409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82FA5E-28EA-9017-A0FF-F96EB453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25D24-38F0-449E-81DE-AE3BE376B9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2754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39306-127F-5B57-5241-AD1ADE7C6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144F9-8EDC-0332-29B5-DF5FD47E5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AD335-9D02-B6AF-BB13-D78773215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C051C-301A-4C05-BB7C-609F0D3C8F39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06CCE8-2EC7-6101-521C-81B4F5CAD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1FCE43-916E-A5AD-996D-52AFD6D35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25D24-38F0-449E-81DE-AE3BE376B9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1409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12992-54B7-FF80-9C9E-7B3FB93CA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866CFB-9F83-3FEB-7B80-FDE4FAC11A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F21930-7863-F386-EE61-9161E40BC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C051C-301A-4C05-BB7C-609F0D3C8F39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8E525B-0912-3753-DAFE-9B8FFD24D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DB8003-E451-AD57-68DF-44980B740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25D24-38F0-449E-81DE-AE3BE376B9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7890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FA4D8-2643-02D5-D272-F6F21D80C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392082-C819-7FB5-3055-C2F7C1263B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7726DF-7F6E-1DE5-7300-519FA88DBD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CC108-A823-E6D7-6206-B6817D81B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C051C-301A-4C05-BB7C-609F0D3C8F39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8E9786-B8A5-B45C-204A-0D11503D7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27D7FF-A4A4-B8C6-6366-7C3B77E16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25D24-38F0-449E-81DE-AE3BE376B9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5640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AFE22-E021-D9CD-3C6D-3BAAAD510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DE0FA8-DD06-8616-F6CC-970B01DC37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98E9FD-999F-85CD-6DFD-949BDD6B2B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7CC3E0-FEB9-44A4-4319-257DEF1AD4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020798-227D-8D72-7573-A8CC3BAF49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5965DB-CF86-27EE-28AA-317079C87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C051C-301A-4C05-BB7C-609F0D3C8F39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579B07-C341-BA08-6C98-4E1E150BA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53C601-589C-2E54-72D3-0EB406267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25D24-38F0-449E-81DE-AE3BE376B9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8304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DE40B-C974-9105-7F5F-2ADA0D324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6E1FF2-42FE-FDA5-F4C0-5CC981202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C051C-301A-4C05-BB7C-609F0D3C8F39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F500B7-BD8E-1880-1DA2-D39692B8B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540BBD-1FB5-A212-9240-6BF4D08FA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25D24-38F0-449E-81DE-AE3BE376B9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52286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43E1DB-4150-B709-7990-CFF069032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C051C-301A-4C05-BB7C-609F0D3C8F39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2229FE-E63F-18EB-0889-3F05DBC72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33CBF4-E701-A812-3028-BF5CAC158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25D24-38F0-449E-81DE-AE3BE376B9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9794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0801B-47B2-22C2-9EA9-983BB7D19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678CD2-802B-6D27-3B5C-A7E9D22B23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2E418A-B240-D610-8D1C-2A3A1E8FC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B087D6-153E-6E36-62B0-EF38CA184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C051C-301A-4C05-BB7C-609F0D3C8F39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90E831-387F-EE2D-885C-280FC0E92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63776D-6B20-0CBE-F127-DE14C5723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25D24-38F0-449E-81DE-AE3BE376B9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8950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5B226-990E-5EA5-58F4-3E183A471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0416BB-F28D-EDEB-624C-1619E11D1A3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B8F1C-80FF-F76B-B76A-240E09644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588EA-BFD7-E5DE-CED1-22D00A812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C051C-301A-4C05-BB7C-609F0D3C8F39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DCA7B3-CFBB-E0F5-6F2F-2C0B5D05E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479C50-C5B4-8663-2602-75942D3B5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25D24-38F0-449E-81DE-AE3BE376B9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76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4487C-358C-1934-B5A3-907F838E8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4C9902-1821-F8D1-F65D-E2815292CB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E64523-F3E7-5B2F-8CE7-FAAD9DCDA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C051C-301A-4C05-BB7C-609F0D3C8F39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1EC6E3-7C10-2D2B-2976-C865C1395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7E3F82-7128-F69A-D245-3BC9B204E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25D24-38F0-449E-81DE-AE3BE376B9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2487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46C570-C78C-02E7-8FC6-0850DAA0E4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ACA392-49E4-144B-E124-31EF763EBD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C84649-A0F7-57E5-AB30-1693429D3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C051C-301A-4C05-BB7C-609F0D3C8F39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EA1675-7AED-1CE1-B103-81530A69E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234448-EA9E-5A77-7AE9-DD72321B2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025D24-38F0-449E-81DE-AE3BE376B9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288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EB8BD2-E3D9-B354-BDA0-4E017E973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DA8070-CC3E-0FAA-CFD5-9EB3ED7408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EBCC9-EE29-9B68-25BA-A1D26FF795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EC051C-301A-4C05-BB7C-609F0D3C8F39}" type="datetimeFigureOut">
              <a:rPr lang="en-IN" smtClean="0"/>
              <a:t>09-10-2026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14BE3-4FB3-70AD-CFD1-0AFA598B1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4983A4-0D8A-2C0E-3B03-27890073BB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025D24-38F0-449E-81DE-AE3BE376B9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00192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53ACFB8-E9A2-68CA-DB0A-8E2CBE34DF2A}"/>
              </a:ext>
            </a:extLst>
          </p:cNvPr>
          <p:cNvSpPr/>
          <p:nvPr/>
        </p:nvSpPr>
        <p:spPr>
          <a:xfrm>
            <a:off x="192243" y="793750"/>
            <a:ext cx="8543240" cy="5448300"/>
          </a:xfrm>
          <a:prstGeom prst="roundRect">
            <a:avLst>
              <a:gd name="adj" fmla="val 3483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en-IN" sz="1100" b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Customer Onboarding</a:t>
            </a:r>
            <a:r>
              <a:rPr lang="en-IN" sz="11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Microservice API</a:t>
            </a:r>
          </a:p>
          <a:p>
            <a:pPr>
              <a:lnSpc>
                <a:spcPct val="150000"/>
              </a:lnSpc>
            </a:pPr>
            <a:r>
              <a:rPr lang="en-IN" sz="1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CustomersController</a:t>
            </a:r>
            <a:r>
              <a:rPr lang="en-IN" sz="8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.CreateCustomer()</a:t>
            </a: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IN" sz="8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88900" indent="-88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800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Return </a:t>
            </a:r>
            <a:r>
              <a:rPr lang="en-IN" sz="800" b="1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201 - Created</a:t>
            </a:r>
            <a:endParaRPr lang="en-IN" sz="1100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65FDC8A-53CB-89A7-1F36-ACB2CBCB1B97}"/>
              </a:ext>
            </a:extLst>
          </p:cNvPr>
          <p:cNvSpPr/>
          <p:nvPr/>
        </p:nvSpPr>
        <p:spPr>
          <a:xfrm>
            <a:off x="373326" y="1555186"/>
            <a:ext cx="8163191" cy="4316447"/>
          </a:xfrm>
          <a:prstGeom prst="roundRect">
            <a:avLst>
              <a:gd name="adj" fmla="val 2616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en-IN" sz="1000" b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CQRS</a:t>
            </a:r>
          </a:p>
          <a:p>
            <a:pPr>
              <a:lnSpc>
                <a:spcPct val="150000"/>
              </a:lnSpc>
            </a:pPr>
            <a:r>
              <a:rPr lang="en-IN" sz="1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CreateCustomerCommandHandler</a:t>
            </a:r>
            <a:r>
              <a:rPr lang="en-IN" sz="8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.HandleAsync ()</a:t>
            </a:r>
          </a:p>
          <a:p>
            <a:pPr indent="-277812">
              <a:lnSpc>
                <a:spcPct val="150000"/>
              </a:lnSpc>
            </a:pPr>
            <a:endParaRPr lang="en-IN" sz="4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88900" indent="-88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Gets the next sequence number for the Customer Number</a:t>
            </a:r>
            <a:r>
              <a:rPr lang="en-IN" sz="800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(this is different from ID of the customer)</a:t>
            </a:r>
          </a:p>
          <a:p>
            <a:pPr marL="88900" indent="-88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sz="800" i="1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88900" indent="-88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sz="800" i="1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88900" indent="-88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sz="800" i="1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88900" indent="-88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sz="800" i="1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88900" indent="-88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sz="800" i="1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88900" indent="-88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sz="800" i="1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88900" indent="-88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sz="800" i="1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88900" indent="-88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sz="800" i="1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88900" indent="-88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Wingdings" panose="05000000000000000000" pitchFamily="2" charset="2"/>
              </a:rPr>
              <a:t>Repository: track the new customer (and its address) in EF Core</a:t>
            </a:r>
            <a:endParaRPr lang="en-IN" sz="800" i="1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  <a:sym typeface="Wingdings" panose="05000000000000000000" pitchFamily="2" charset="2"/>
            </a:endParaRPr>
          </a:p>
          <a:p>
            <a:pPr marL="88900" indent="-88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800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Wingdings" panose="05000000000000000000" pitchFamily="2" charset="2"/>
              </a:rPr>
              <a:t>EF Core (Unit Of Work Implementation):</a:t>
            </a:r>
          </a:p>
          <a:p>
            <a:pPr marL="352425" lvl="1" indent="-1714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800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Wingdings" panose="05000000000000000000" pitchFamily="2" charset="2"/>
              </a:rPr>
              <a:t>Collect the domain events</a:t>
            </a:r>
          </a:p>
          <a:p>
            <a:pPr marL="352425" lvl="1" indent="-1714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800" b="1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Wingdings" panose="05000000000000000000" pitchFamily="2" charset="2"/>
              </a:rPr>
              <a:t>Begin a transaction</a:t>
            </a:r>
          </a:p>
          <a:p>
            <a:pPr marL="352425" lvl="1" indent="-1714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800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Wingdings" panose="05000000000000000000" pitchFamily="2" charset="2"/>
              </a:rPr>
              <a:t>Save customer, address  </a:t>
            </a:r>
            <a:r>
              <a:rPr lang="en-US" sz="800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Wingdings" panose="05000000000000000000" pitchFamily="2" charset="2"/>
              </a:rPr>
              <a:t>the IDs of both are generated by the database</a:t>
            </a:r>
            <a:endParaRPr lang="en-IN" sz="800" i="1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  <a:sym typeface="Wingdings" panose="05000000000000000000" pitchFamily="2" charset="2"/>
            </a:endParaRPr>
          </a:p>
          <a:p>
            <a:pPr marL="352425" lvl="1" indent="-1714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800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Wingdings" panose="05000000000000000000" pitchFamily="2" charset="2"/>
              </a:rPr>
              <a:t>Iterate through domain events</a:t>
            </a:r>
          </a:p>
          <a:p>
            <a:pPr marL="538163" lvl="2" indent="-79375">
              <a:lnSpc>
                <a:spcPct val="150000"/>
              </a:lnSpc>
              <a:buFont typeface="Cascadia Code" panose="020B0609020000020004" pitchFamily="49" charset="0"/>
              <a:buChar char="−"/>
            </a:pPr>
            <a:r>
              <a:rPr lang="en-IN" sz="800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Wingdings" panose="05000000000000000000" pitchFamily="2" charset="2"/>
              </a:rPr>
              <a:t>Map domain event  Integration event  to a new “Outbox” row with Workflow ID, Correlation ID and Causation ID, Initiator</a:t>
            </a:r>
          </a:p>
          <a:p>
            <a:pPr marL="538163" lvl="2" indent="-79375">
              <a:lnSpc>
                <a:spcPct val="150000"/>
              </a:lnSpc>
              <a:buFont typeface="Cascadia Code" panose="020B0609020000020004" pitchFamily="49" charset="0"/>
              <a:buChar char="−"/>
            </a:pPr>
            <a:r>
              <a:rPr lang="en-IN" sz="800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Wingdings" panose="05000000000000000000" pitchFamily="2" charset="2"/>
              </a:rPr>
              <a:t>Order of “Outbox” rows is important – written one row at a time </a:t>
            </a:r>
          </a:p>
          <a:p>
            <a:pPr marL="352425" lvl="1" indent="-1714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800" b="1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Wingdings" panose="05000000000000000000" pitchFamily="2" charset="2"/>
              </a:rPr>
              <a:t>Commit the transaction</a:t>
            </a:r>
            <a:r>
              <a:rPr lang="en-IN" sz="800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Wingdings" panose="05000000000000000000" pitchFamily="2" charset="2"/>
              </a:rPr>
              <a:t> – customer, address, and outbox records are together committed</a:t>
            </a:r>
          </a:p>
          <a:p>
            <a:pPr marL="352425" lvl="1" indent="-1714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800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Wingdings" panose="05000000000000000000" pitchFamily="2" charset="2"/>
              </a:rPr>
              <a:t>Hence "Transactional Outbox": no "dual write"</a:t>
            </a:r>
            <a:endParaRPr lang="en-IN" sz="800" i="1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434BD28-047B-7E6E-C22F-8B49D7F99A81}"/>
              </a:ext>
            </a:extLst>
          </p:cNvPr>
          <p:cNvSpPr txBox="1"/>
          <p:nvPr/>
        </p:nvSpPr>
        <p:spPr>
          <a:xfrm>
            <a:off x="6099807" y="851302"/>
            <a:ext cx="23029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900" i="1" dirty="0">
                <a:latin typeface="Cascadia Code" panose="020B0609020000020004" pitchFamily="49" charset="0"/>
                <a:cs typeface="Cascadia Code" panose="020B0609020000020004" pitchFamily="49" charset="0"/>
              </a:rPr>
              <a:t>HTTP POST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900" i="1" dirty="0">
                <a:latin typeface="Cascadia Code" panose="020B0609020000020004" pitchFamily="49" charset="0"/>
                <a:cs typeface="Cascadia Code" panose="020B0609020000020004" pitchFamily="49" charset="0"/>
              </a:rPr>
              <a:t>Auth policy: </a:t>
            </a:r>
            <a:r>
              <a:rPr lang="en-IN" sz="900" b="1" i="1" dirty="0">
                <a:solidFill>
                  <a:srgbClr val="C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"CustomerWrite"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900" i="1" dirty="0">
                <a:latin typeface="Cascadia Code" panose="020B0609020000020004" pitchFamily="49" charset="0"/>
                <a:cs typeface="Cascadia Code" panose="020B0609020000020004" pitchFamily="49" charset="0"/>
              </a:rPr>
              <a:t>Uses DDD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900" i="1" dirty="0">
                <a:latin typeface="Cascadia Code" panose="020B0609020000020004" pitchFamily="49" charset="0"/>
                <a:cs typeface="Cascadia Code" panose="020B0609020000020004" pitchFamily="49" charset="0"/>
              </a:rPr>
              <a:t>Uses a CQRS Command Handler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D0884D3-B47D-51D1-6B0A-02D10BBB93EA}"/>
              </a:ext>
            </a:extLst>
          </p:cNvPr>
          <p:cNvSpPr/>
          <p:nvPr/>
        </p:nvSpPr>
        <p:spPr>
          <a:xfrm>
            <a:off x="536995" y="2485671"/>
            <a:ext cx="7769587" cy="1286055"/>
          </a:xfrm>
          <a:prstGeom prst="roundRect">
            <a:avLst>
              <a:gd name="adj" fmla="val 9293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en-IN" sz="1000" b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Domain Driven Design</a:t>
            </a:r>
          </a:p>
          <a:p>
            <a:pPr>
              <a:lnSpc>
                <a:spcPct val="150000"/>
              </a:lnSpc>
            </a:pPr>
            <a:r>
              <a:rPr lang="en-IN" sz="10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Customer</a:t>
            </a:r>
            <a:r>
              <a:rPr lang="en-IN" sz="8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.Create ()</a:t>
            </a:r>
          </a:p>
          <a:p>
            <a:pPr indent="-277812">
              <a:lnSpc>
                <a:spcPct val="150000"/>
              </a:lnSpc>
            </a:pPr>
            <a:endParaRPr lang="en-IN" sz="4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88900" lvl="1" indent="-88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800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Builds itself from value-objects</a:t>
            </a:r>
          </a:p>
          <a:p>
            <a:pPr marL="352425" lvl="1" indent="-1714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IN" sz="800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Wingdings" panose="05000000000000000000" pitchFamily="2" charset="2"/>
              </a:rPr>
              <a:t>PersonName.Create(), EmailAddress.Create(), PhoneNumber.Create (), etc.</a:t>
            </a:r>
          </a:p>
          <a:p>
            <a:pPr marL="88900" lvl="1" indent="-88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Wingdings" panose="05000000000000000000" pitchFamily="2" charset="2"/>
              </a:rPr>
              <a:t>Finally, it raises </a:t>
            </a:r>
            <a:r>
              <a:rPr lang="en-US" sz="800" b="1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Wingdings" panose="05000000000000000000" pitchFamily="2" charset="2"/>
              </a:rPr>
              <a:t>CustomerCreatedDomainEvent</a:t>
            </a:r>
            <a:r>
              <a:rPr lang="en-US" sz="800" i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Wingdings" panose="05000000000000000000" pitchFamily="2" charset="2"/>
              </a:rPr>
              <a:t> into its domain-event list</a:t>
            </a:r>
            <a:endParaRPr lang="en-IN" sz="800" i="1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  <a:sym typeface="Wingdings" panose="05000000000000000000" pitchFamily="2" charset="2"/>
            </a:endParaRPr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9A1531E9-6EED-B81B-5A9D-D3837A680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" y="131074"/>
            <a:ext cx="11912600" cy="460968"/>
          </a:xfrm>
        </p:spPr>
        <p:txBody>
          <a:bodyPr>
            <a:noAutofit/>
          </a:bodyPr>
          <a:lstStyle/>
          <a:p>
            <a:r>
              <a:rPr lang="en-IN" sz="2800" b="1" dirty="0">
                <a:solidFill>
                  <a:schemeClr val="accent5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Writing Customer, Address, Outbox records to CO DB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AC1628E6-9EDF-78DE-A10A-9708E56E5DF2}"/>
              </a:ext>
            </a:extLst>
          </p:cNvPr>
          <p:cNvSpPr/>
          <p:nvPr/>
        </p:nvSpPr>
        <p:spPr>
          <a:xfrm>
            <a:off x="8953127" y="2926139"/>
            <a:ext cx="3012390" cy="3104547"/>
          </a:xfrm>
          <a:prstGeom prst="roundRect">
            <a:avLst>
              <a:gd name="adj" fmla="val 486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en-IN" sz="900" b="1" u="sng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Architectural Patterns</a:t>
            </a:r>
            <a:r>
              <a:rPr lang="en-IN" sz="900" b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</a:p>
          <a:p>
            <a:pPr>
              <a:lnSpc>
                <a:spcPct val="150000"/>
              </a:lnSpc>
            </a:pPr>
            <a:endParaRPr lang="en-IN" sz="900" b="1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en-IN" sz="9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Transactional Outbox Pattern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en-IN" sz="9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CQRS Pattern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en-IN" sz="9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DDD Patterns (Aggregate, VO, etc.)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en-IN" sz="9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Deferred Domain-event Dispatch Pattern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en-IN" sz="9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Domain event </a:t>
            </a:r>
            <a:r>
              <a:rPr lang="en-IN" sz="9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Wingdings" panose="05000000000000000000" pitchFamily="2" charset="2"/>
              </a:rPr>
              <a:t> Integration Event Pattern</a:t>
            </a:r>
            <a:endParaRPr lang="en-IN" sz="9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en-IN" sz="9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Repository Pattern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en-IN" sz="9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Unit of Work Pattern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en-IN" sz="9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Correlation Identifier Pattern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en-IN" sz="9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Surrogate Key + Business Key Pattern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en-IN" sz="9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Policy-based Authorization Pattern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endParaRPr lang="en-IN" sz="9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E29B5B23-BF3B-C7A2-4039-4C74A2578C8F}"/>
              </a:ext>
            </a:extLst>
          </p:cNvPr>
          <p:cNvSpPr/>
          <p:nvPr/>
        </p:nvSpPr>
        <p:spPr>
          <a:xfrm>
            <a:off x="8953127" y="1112157"/>
            <a:ext cx="3012390" cy="1619250"/>
          </a:xfrm>
          <a:prstGeom prst="roundRect">
            <a:avLst>
              <a:gd name="adj" fmla="val 795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en-IN" sz="900" b="1" u="sng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Architectural Components</a:t>
            </a:r>
            <a:r>
              <a:rPr lang="en-IN" sz="900" b="1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</a:p>
          <a:p>
            <a:pPr>
              <a:lnSpc>
                <a:spcPct val="150000"/>
              </a:lnSpc>
            </a:pPr>
            <a:endParaRPr lang="en-IN" sz="900" b="1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en-IN" sz="9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Microservice API Controller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en-IN" sz="9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Command Handler (CQRS)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en-IN" sz="9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Aggregate (DDD)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en-IN" sz="9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Repository (EF Core DbContext)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en-IN" sz="9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Unit of Work (EF Core DbContext)</a:t>
            </a:r>
          </a:p>
        </p:txBody>
      </p:sp>
    </p:spTree>
    <p:extLst>
      <p:ext uri="{BB962C8B-B14F-4D97-AF65-F5344CB8AC3E}">
        <p14:creationId xmlns:p14="http://schemas.microsoft.com/office/powerpoint/2010/main" val="16063198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280</Words>
  <Application>Microsoft Office PowerPoint</Application>
  <PresentationFormat>Widescreen</PresentationFormat>
  <Paragraphs>80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Cascadia Code</vt:lpstr>
      <vt:lpstr>Courier New</vt:lpstr>
      <vt:lpstr>Office Theme</vt:lpstr>
      <vt:lpstr>Writing Customer, Address, Outbox records to CO DB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Dinesh Muciliath Jayadevan</dc:creator>
  <cp:lastModifiedBy>Dinesh Muciliath Jayadevan</cp:lastModifiedBy>
  <cp:revision>14</cp:revision>
  <dcterms:created xsi:type="dcterms:W3CDTF">2026-10-09T17:34:36Z</dcterms:created>
  <dcterms:modified xsi:type="dcterms:W3CDTF">2026-10-09T20:15:46Z</dcterms:modified>
</cp:coreProperties>
</file>